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IRSS EXTENDED MENTORSHIP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 i="0">
                <a:solidFill>
                  <a:srgbClr val="C9D9F2"/>
                </a:solidFill>
                <a:latin typeface="Calibri"/>
              </a:rPr>
              <a:t>Week 3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C9D9F2"/>
                </a:solidFill>
                <a:latin typeface="Calibri"/>
              </a:rPr>
              <a:t>Valentina Rossi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343400"/>
            <a:ext cx="2011680" cy="38100"/>
          </a:xfrm>
          <a:prstGeom prst="rect">
            <a:avLst/>
          </a:prstGeom>
          <a:solidFill>
            <a:srgbClr val="2E5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Full 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2743200" cy="82296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1B2A4A"/>
                </a:solidFill>
                <a:latin typeface="Calibri"/>
              </a:rPr>
              <a:t>Stage 1</a:t>
            </a:r>
          </a:p>
          <a:p>
            <a:pPr algn="ctr"/>
            <a:r>
              <a:rPr sz="1300" b="0">
                <a:solidFill>
                  <a:srgbClr val="1B2A4A"/>
                </a:solidFill>
                <a:latin typeface="Calibri"/>
              </a:rPr>
              <a:t>Function-level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685800"/>
            <a:ext cx="1600200" cy="50292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2E7D4F"/>
                </a:solidFill>
                <a:latin typeface="Calibri"/>
              </a:rPr>
              <a:t>Vulnerable</a:t>
            </a:r>
          </a:p>
          <a:p>
            <a:pPr algn="ctr"/>
            <a:r>
              <a:rPr sz="1100" b="0">
                <a:solidFill>
                  <a:srgbClr val="2E7D4F"/>
                </a:solidFill>
                <a:latin typeface="Calibri"/>
              </a:rPr>
              <a:t>(verdict)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234440"/>
            <a:ext cx="1600200" cy="50292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B86A00"/>
                </a:solidFill>
                <a:latin typeface="Calibri"/>
              </a:rPr>
              <a:t>Indeterminate</a:t>
            </a:r>
          </a:p>
          <a:p>
            <a:pPr algn="ctr"/>
            <a:r>
              <a:rPr sz="1100" b="0">
                <a:solidFill>
                  <a:srgbClr val="B86A00"/>
                </a:solidFill>
                <a:latin typeface="Calibri"/>
              </a:rPr>
              <a:t>(abstained)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783080"/>
            <a:ext cx="1600200" cy="502920"/>
          </a:xfrm>
          <a:prstGeom prst="roundRect">
            <a:avLst/>
          </a:prstGeom>
          <a:solidFill>
            <a:srgbClr val="FBE7E7"/>
          </a:solidFill>
          <a:ln w="15875">
            <a:solidFill>
              <a:srgbClr val="A6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100" b="1">
                <a:solidFill>
                  <a:srgbClr val="A62C2C"/>
                </a:solidFill>
                <a:latin typeface="Calibri"/>
              </a:rPr>
              <a:t>FN — force-</a:t>
            </a:r>
          </a:p>
          <a:p>
            <a:pPr algn="ctr"/>
            <a:r>
              <a:rPr sz="1100" b="0">
                <a:solidFill>
                  <a:srgbClr val="A62C2C"/>
                </a:solidFill>
                <a:latin typeface="Calibri"/>
              </a:rPr>
              <a:t>included (new)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3200400" y="932688"/>
            <a:ext cx="457200" cy="301752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0" y="1417320"/>
            <a:ext cx="457200" cy="64008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200400" y="1600200"/>
            <a:ext cx="457200" cy="429768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0" y="685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Stage 2 — Codebase-level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1051560"/>
            <a:ext cx="3108960" cy="77724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1B2A4A"/>
                </a:solidFill>
                <a:latin typeface="Calibri"/>
              </a:rPr>
              <a:t>v1: confirm-and-filter-vulnerabilities</a:t>
            </a:r>
          </a:p>
          <a:p>
            <a:pPr algn="ctr"/>
            <a:r>
              <a:rPr sz="1050" b="0">
                <a:solidFill>
                  <a:srgbClr val="1B2A4A"/>
                </a:solidFill>
                <a:latin typeface="Calibri"/>
              </a:rPr>
              <a:t>2 of 4 confirmed, 1 FP suppressed,</a:t>
            </a:r>
          </a:p>
          <a:p>
            <a:pPr algn="ctr"/>
            <a:r>
              <a:rPr sz="1050" b="0">
                <a:solidFill>
                  <a:srgbClr val="1B2A4A"/>
                </a:solidFill>
                <a:latin typeface="Calibri"/>
              </a:rPr>
              <a:t>3 retained (known limitation)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23560" y="1920240"/>
            <a:ext cx="3108960" cy="77724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00" b="1">
                <a:solidFill>
                  <a:srgbClr val="B86A00"/>
                </a:solidFill>
                <a:latin typeface="Calibri"/>
              </a:rPr>
              <a:t>v2: +static analysis (done)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Ghidra p-code, def-use, slicing,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dominance, targeted angr — 2 cases</a:t>
            </a:r>
          </a:p>
          <a:p>
            <a:pPr algn="ctr"/>
            <a:r>
              <a:rPr sz="1000" b="0">
                <a:solidFill>
                  <a:srgbClr val="B86A00"/>
                </a:solidFill>
                <a:latin typeface="Calibri"/>
              </a:rPr>
              <a:t>accepted as documented limitations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257800" y="960120"/>
            <a:ext cx="365760" cy="45720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257800" y="1600200"/>
            <a:ext cx="365760" cy="68580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57800" y="2011680"/>
            <a:ext cx="365760" cy="274320"/>
          </a:xfrm>
          <a:prstGeom prst="line">
            <a:avLst/>
          </a:prstGeom>
          <a:ln w="2222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0" y="68580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Stage 3 — Dynamic analysis (fuzzing)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1051560"/>
            <a:ext cx="2606040" cy="566928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Baseline: random seeds</a:t>
            </a:r>
          </a:p>
          <a:p>
            <a:pPr algn="ctr"/>
            <a:r>
              <a:rPr sz="1050" b="0">
                <a:solidFill>
                  <a:srgbClr val="555555"/>
                </a:solidFill>
                <a:latin typeface="Calibri"/>
              </a:rPr>
              <a:t>(planned)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91640"/>
            <a:ext cx="2606040" cy="566928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2E7D4F"/>
                </a:solidFill>
                <a:latin typeface="Calibri"/>
              </a:rPr>
              <a:t>LLM-generated seeds (blind)</a:t>
            </a:r>
          </a:p>
          <a:p>
            <a:pPr algn="ctr"/>
            <a:r>
              <a:rPr sz="1050" b="0">
                <a:solidFill>
                  <a:srgbClr val="2E7D4F"/>
                </a:solidFill>
                <a:latin typeface="Calibri"/>
              </a:rPr>
              <a:t>3/5 CVEs confirmed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331720"/>
            <a:ext cx="2606040" cy="566928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Static-analysis-guided seeds</a:t>
            </a:r>
          </a:p>
          <a:p>
            <a:pPr algn="ctr"/>
            <a:r>
              <a:rPr sz="1050" b="0">
                <a:solidFill>
                  <a:srgbClr val="555555"/>
                </a:solidFill>
                <a:latin typeface="Calibri"/>
              </a:rPr>
              <a:t>(planned)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32520" y="1737360"/>
            <a:ext cx="411480" cy="0"/>
          </a:xfrm>
          <a:prstGeom prst="line">
            <a:avLst/>
          </a:prstGeom>
          <a:ln w="28575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306324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Forwarding to codebase-level now follows the actual verdict criteria: any "vulnerable" or "indeterminate" verdict forwards automatically; a genuine function-level miss (CVE-2021-42386) was force-included this week after a queue-construction bug was found and fixed. Codebase-level retained cases are exactly the priority target for dynamic analysis.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Codebase-level Analysis: v1 vs. v2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5349240" cy="4114800"/>
          </a:xfrm>
          <a:prstGeom prst="roundRect">
            <a:avLst/>
          </a:prstGeom>
          <a:solidFill>
            <a:srgbClr val="E8F0FB"/>
          </a:solidFill>
          <a:ln w="15875">
            <a:solidFill>
              <a:srgbClr val="2E5F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55080" y="960120"/>
            <a:ext cx="5349240" cy="4114800"/>
          </a:xfrm>
          <a:prstGeom prst="roundRect">
            <a:avLst/>
          </a:prstGeom>
          <a:solidFill>
            <a:srgbClr val="FCF0DC"/>
          </a:solidFill>
          <a:ln w="15875">
            <a:solidFill>
              <a:srgbClr val="B8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v1 — confirm-and-filter-vulnerabilities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Package: decompiled pseudo-C + Ghidra's direct-calls-only call graph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Tools available to the agent: read function, list callers/callees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Six-case pilot result: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2 of 4 real vulnerabilities confirmed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1 genuine false positive correctly suppressed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   (full rejection proof)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•  3 cases retained — needed value-range tracking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     across a loop and/or indirect-call resolution</a:t>
            </a:r>
          </a:p>
          <a:p>
            <a:pPr algn="l">
              <a:lnSpc>
                <a:spcPct val="110000"/>
              </a:lnSpc>
            </a:pP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No suppression of a true positive at any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86A00"/>
                </a:solidFill>
                <a:latin typeface="Calibri"/>
              </a:rPr>
              <a:t>v2 — + agent-directed 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63040"/>
            <a:ext cx="49377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Added per supervisor guidance — no new algorithms,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agent orchestrates existing capabilities: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Fuller Ghidra output: p-code, CFG, references, call sites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Def-use, slicing, dominance tools + targeted angr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•  Ingestion bug fixed: the CVE-2021-42386 Tier A miss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   now actually reaches Tier B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3 verified rounds, each fixing a distinct, confirmed root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cause (not re-running hoping for a better roll):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1.  Tools built but never invoked -&gt; coverage gate added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2.  Framing applied once, retry-budget gap -&gt; fixed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3.  Narrower retry gap + a provider content-safety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      rejection persisting under uniform framing</a:t>
            </a:r>
          </a:p>
          <a:p>
            <a:pPr algn="l">
              <a:lnSpc>
                <a:spcPct val="105000"/>
              </a:lnSpc>
            </a:pP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CVE-2021-42386 (UAF): all 4 tools genuinely exhausted,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222222"/>
                </a:solidFill>
                <a:latin typeface="Calibri"/>
              </a:rPr>
              <a:t>angr timed out — a complete, non-starved attempt.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57800"/>
            <a:ext cx="11247120" cy="100584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l"/>
            <a:r>
              <a:rPr sz="1150" b="0">
                <a:solidFill>
                  <a:srgbClr val="222222"/>
                </a:solidFill>
                <a:latin typeface="Calibri"/>
              </a:rPr>
              <a:t>Concrete result, not an open bug: CVE-2017-15873 and CVE-2021-42374 are accepted as static-analysis-stage limitations after 3 verified rounds each fixed a genuine, distinct root cause. The final blocker (a provider-side content-safety rejection under uniform defensive framing) is outside prompt/scheduling control. No further static-tools rounds planned — resolution is deferred entirely to dynamic analysis (Stage 9), which is exactly the role that stage was scoped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B2A4A"/>
                </a:solidFill>
                <a:latin typeface="Calibri"/>
              </a:rPr>
              <a:t>Dynamic Analysis: Fuzzing Experiments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5F9E"/>
                </a:solidFill>
                <a:latin typeface="Calibri"/>
              </a:rPr>
              <a:t>How seeds are generated now (blind, LLM-guided — LLMIF-derived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Phase 1 — extraction: an isolated subagent reads only the relevant specification/documentation and source code (RFC text for the one RFC-defined case; real compression tools for binary formats; source code for CLI/interpreter cases). It extracts field structure and boundary values with zero mention of the vulnerability, CVE, or bug class.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Phase 2 — generation: seeds are built mechanically from that extraction, no further vulnerability-aware reasoning — so a resulting crash is genuine evidence, not a confirmation of something already known.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Verification: every harness is built with AddressSanitizer (ASAN); a crash is only reported confirmed if the ASAN report reproduces on the vulnerable binary and is absent on a freshly-built patched binary given the identical input — the ASAN report itself supplies the crash traceback (exact allocation/free/read call chain) used to identify the bug, not just a bare segfault.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461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5F9E"/>
                </a:solidFill>
                <a:latin typeface="Calibri"/>
              </a:rPr>
              <a:t>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828800" cy="86868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 / 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harnesses built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&amp; verified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CVE-2026-29004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(udhcpc6)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CVE-2021-42373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(man)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657600"/>
            <a:ext cx="1737360" cy="868680"/>
          </a:xfrm>
          <a:prstGeom prst="roundRect">
            <a:avLst/>
          </a:prstGeom>
          <a:solidFill>
            <a:srgbClr val="E7F5EC"/>
          </a:solidFill>
          <a:ln w="15875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2E7D4F"/>
                </a:solidFill>
                <a:latin typeface="Calibri"/>
              </a:rPr>
              <a:t>CVE-2021-42374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(unlzma)</a:t>
            </a:r>
          </a:p>
          <a:p>
            <a:pPr algn="ctr"/>
            <a:r>
              <a:rPr sz="950" b="0">
                <a:solidFill>
                  <a:srgbClr val="2E7D4F"/>
                </a:solidFill>
                <a:latin typeface="Calibri"/>
              </a:rPr>
              <a:t>CONFIRMED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3657600"/>
            <a:ext cx="1737360" cy="868680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CVE-2017-15873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(bunzip2)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IN PROGRESS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3657600"/>
            <a:ext cx="1737360" cy="868680"/>
          </a:xfrm>
          <a:prstGeom prst="roundRect">
            <a:avLst/>
          </a:prstGeom>
          <a:solidFill>
            <a:srgbClr val="EFEFEF"/>
          </a:solidFill>
          <a:ln w="1587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CVE-2021-42386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(awk)</a:t>
            </a:r>
          </a:p>
          <a:p>
            <a:pPr algn="ctr"/>
            <a:r>
              <a:rPr sz="950" b="0">
                <a:solidFill>
                  <a:srgbClr val="555555"/>
                </a:solidFill>
                <a:latin typeface="Calibri"/>
              </a:rPr>
              <a:t>IN 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902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555555"/>
                </a:solidFill>
                <a:latin typeface="Calibri"/>
              </a:rPr>
              <a:t>Confirmed = ASAN-reported crash reproduces on vulnerable, absent on patched, with the identical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5604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B86A00"/>
                </a:solidFill>
                <a:latin typeface="Calibri"/>
              </a:rPr>
              <a:t>Expansion (per supervisor's request)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1.  Random-seed baseline — same harnesses/timeout, purely random seeds, no dictionary — in progress (3/5 done). Results and comparison on the next slide.</a:t>
            </a:r>
          </a:p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22222"/>
                </a:solidFill>
                <a:latin typeface="Calibri"/>
              </a:rPr>
              <a:t>2.  Static-analysis-guided seed generation — once codebase-level analysis identifies concrete candidate lines and value constraints, feed those directly into seed generation instead of only specification/documentation. Not yet started.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Seed-Generation Comparison: Blind LLM Seeds vs. Random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772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Same harness/build/timeout per case; random baseline uses no dictionary, 3 files of 64 random bytes, isolating seed-generation strategy as the only variable.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34440"/>
          <a:ext cx="1133856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2377440"/>
                <a:gridCol w="42976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CVE (case)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Blind LLM seeds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time to first crash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Random baseline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time to first crash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CVE-2021-42373 (man)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~5.7s (845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~71.8s (15,941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Blind ~12.6x faster, ~19x fewer execs — both confirmed, absent on patched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CVE-2026-29004 (udhcpc6)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~372.8s (81,087 execs)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~93.2s (14,255 execs)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Random ~4x faster — LLM seed advantage did not generalize here; both confirmed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CVE-2021-42374 (unlzma)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~4,824.5s / ~80.4 min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(175,710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Running now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Blind confirmed (82 min); random baseline in progress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CVE-2017-15873 (bunzip2)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~2.3h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(242,043 execs, 85.31% cov.)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~19 min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(296,317 execs, 2.10% cov.)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Random never passed the format's magic-byte header (corpus stuck at 3 seeds, 45 cycles, 0 new edges). Added a 3rd condition to isolate why: real-bzip2-compressed random content (mechanical, no LLM) -- just 3 such seeds already reach 56.64% coverage (81/143 edges) before any mutation, confirming it was a gate-passing failure, not a hard-interior problem. Campaign in progress.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CVE-2021-42386 (awk)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 crash in ~31.7h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(1,587,759 execs)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Not yet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Target UAF needs a narrow alloc/free interleaving neither strategy has hit yet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0350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  <a:latin typeface="Calibri"/>
              </a:rPr>
              <a:t>Mixed result, reported plainly: blind seeding gave a large head start on man, random matched/beat it on udhcpc6, and on bunzip2 blind was the only strategy that could even pass the format's magic-byte gate. 2 of 5 comparisons still to run/finish.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B2A4A"/>
                </a:solidFill>
                <a:latin typeface="Calibri"/>
              </a:rPr>
              <a:t>Full Pipeline Status — All 5 CVEs, 3 Stages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60120"/>
          <a:ext cx="11338560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514600"/>
                <a:gridCol w="3246120"/>
                <a:gridCol w="32461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CVE (bug class)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Tier A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(function-level)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Tier B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(codebase-level)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Dynamic analysis</a:t>
                      </a:r>
                    </a:p>
                  </a:txBody>
                  <a:tcPr anchor="ctr">
                    <a:solidFill>
                      <a:srgbClr val="1B2A4A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CVE-2026-29004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(heap-buffer-overflow,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udhcpc6)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— blind AND random baseline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(both absent on patched)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CVE-2017-15873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(integer-overflow,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bunzip2)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Accepted limitation — 3 verified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rounds, distinct root cause each;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deferred to dynamic analysis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Neither strategy found a crash: blind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(2.3h) searched inside the format and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found nothing; random (19min) never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passed the magic-byte header at all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CVE-2021-42373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(NULL-deref, man)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TP confirmed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(vulnerable); patched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correctly suppressed as TN control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— blind AND random baseline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(both absent on patched)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CVE-2021-42374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(OOB-read, unlzma)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Abstained — buffer size set in a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callee outside isolated function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Accepted limitation — 3 verified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rounds, distinct root cause each;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deferred to dynamic analysis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Confirmed via blind (82 min); random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baseline running now</a:t>
                      </a:r>
                    </a:p>
                  </a:txBody>
                  <a:tcPr anchor="ctr">
                    <a:solidFill>
                      <a:srgbClr val="E8F0FB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CVE-2021-42386</a:t>
                      </a:r>
                    </a:p>
                    <a:p>
                      <a:pPr algn="l"/>
                      <a:r>
                        <a:rPr sz="950" b="1">
                          <a:solidFill>
                            <a:srgbClr val="1B2A4A"/>
                          </a:solidFill>
                        </a:rPr>
                        <a:t>(use-after-free, awk)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Missed entirely — free/stale-ref/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reuse spans multiple functions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Force-included; all 4 required tools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genuinely exhausted, angr timed out —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complete, non-starved attempt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Not yet confirmed — ~31.7h fuzzing,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222222"/>
                          </a:solidFill>
                        </a:rPr>
                        <a:t>unrelated crash classes ruled 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Calibri"/>
              </a:rPr>
              <a:t>IRSS Extended Mentorship — 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