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IRSS EXTENDED MENTORSHIP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C9D9F2"/>
                </a:solidFill>
                <a:latin typeface="Calibri"/>
              </a:rPr>
              <a:t>Week 3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9D9F2"/>
                </a:solidFill>
                <a:latin typeface="Calibri"/>
              </a:rPr>
              <a:t>Valentina Rossi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Full 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743200" cy="822960"/>
          </a:xfrm>
          <a:prstGeom prst="roundRect">
            <a:avLst/>
          </a:prstGeom>
          <a:solidFill>
            <a:srgbClr val="E8F0FB"/>
          </a:solidFill>
          <a:ln w="15875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Stage 1</a:t>
            </a:r>
          </a:p>
          <a:p>
            <a:pPr algn="ctr"/>
            <a:r>
              <a:rPr sz="1300" b="0">
                <a:solidFill>
                  <a:srgbClr val="1B2A4A"/>
                </a:solidFill>
                <a:latin typeface="Calibri"/>
              </a:rPr>
              <a:t>Function-level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685800"/>
            <a:ext cx="1600200" cy="502920"/>
          </a:xfrm>
          <a:prstGeom prst="roundRect">
            <a:avLst/>
          </a:prstGeom>
          <a:solidFill>
            <a:srgbClr val="E7F5EC"/>
          </a:solidFill>
          <a:ln w="15875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2E7D4F"/>
                </a:solidFill>
                <a:latin typeface="Calibri"/>
              </a:rPr>
              <a:t>Vulnerable</a:t>
            </a:r>
          </a:p>
          <a:p>
            <a:pPr algn="ctr"/>
            <a:r>
              <a:rPr sz="1100" b="0">
                <a:solidFill>
                  <a:srgbClr val="2E7D4F"/>
                </a:solidFill>
                <a:latin typeface="Calibri"/>
              </a:rPr>
              <a:t>(verdict)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1600200" cy="502920"/>
          </a:xfrm>
          <a:prstGeom prst="roundRect">
            <a:avLst/>
          </a:prstGeom>
          <a:solidFill>
            <a:srgbClr val="FCF0DC"/>
          </a:solidFill>
          <a:ln w="15875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B86A00"/>
                </a:solidFill>
                <a:latin typeface="Calibri"/>
              </a:rPr>
              <a:t>Indeterminate</a:t>
            </a:r>
          </a:p>
          <a:p>
            <a:pPr algn="ctr"/>
            <a:r>
              <a:rPr sz="1100" b="0">
                <a:solidFill>
                  <a:srgbClr val="B86A00"/>
                </a:solidFill>
                <a:latin typeface="Calibri"/>
              </a:rPr>
              <a:t>(abstained)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783080"/>
            <a:ext cx="1600200" cy="502920"/>
          </a:xfrm>
          <a:prstGeom prst="roundRect">
            <a:avLst/>
          </a:prstGeom>
          <a:solidFill>
            <a:srgbClr val="FBE7E7"/>
          </a:solidFill>
          <a:ln w="15875">
            <a:solidFill>
              <a:srgbClr val="A6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A62C2C"/>
                </a:solidFill>
                <a:latin typeface="Calibri"/>
              </a:rPr>
              <a:t>FN — force-</a:t>
            </a:r>
          </a:p>
          <a:p>
            <a:pPr algn="ctr"/>
            <a:r>
              <a:rPr sz="1100" b="0">
                <a:solidFill>
                  <a:srgbClr val="A62C2C"/>
                </a:solidFill>
                <a:latin typeface="Calibri"/>
              </a:rPr>
              <a:t>included (new)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00400" y="932688"/>
            <a:ext cx="457200" cy="301752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1417320"/>
            <a:ext cx="457200" cy="64008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1600200"/>
            <a:ext cx="457200" cy="429768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23560" y="685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Stage 2 — Codebase-level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051560"/>
            <a:ext cx="3108960" cy="777240"/>
          </a:xfrm>
          <a:prstGeom prst="roundRect">
            <a:avLst/>
          </a:prstGeom>
          <a:solidFill>
            <a:srgbClr val="E8F0FB"/>
          </a:solidFill>
          <a:ln w="15875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1B2A4A"/>
                </a:solidFill>
                <a:latin typeface="Calibri"/>
              </a:rPr>
              <a:t>v1: confirm-and-filter-vulnerabilities</a:t>
            </a:r>
          </a:p>
          <a:p>
            <a:pPr algn="ctr"/>
            <a:r>
              <a:rPr sz="1050" b="0">
                <a:solidFill>
                  <a:srgbClr val="1B2A4A"/>
                </a:solidFill>
                <a:latin typeface="Calibri"/>
              </a:rPr>
              <a:t>2 of 4 confirmed, 1 FP suppressed,</a:t>
            </a:r>
          </a:p>
          <a:p>
            <a:pPr algn="ctr"/>
            <a:r>
              <a:rPr sz="1050" b="0">
                <a:solidFill>
                  <a:srgbClr val="1B2A4A"/>
                </a:solidFill>
                <a:latin typeface="Calibri"/>
              </a:rPr>
              <a:t>3 retained (known limitation)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920240"/>
            <a:ext cx="3108960" cy="777240"/>
          </a:xfrm>
          <a:prstGeom prst="roundRect">
            <a:avLst/>
          </a:prstGeom>
          <a:solidFill>
            <a:srgbClr val="FCF0DC"/>
          </a:solidFill>
          <a:ln w="15875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B86A00"/>
                </a:solidFill>
                <a:latin typeface="Calibri"/>
              </a:rPr>
              <a:t>v2: +static analysis (in progress)</a:t>
            </a:r>
          </a:p>
          <a:p>
            <a:pPr algn="ctr"/>
            <a:r>
              <a:rPr sz="1050" b="0">
                <a:solidFill>
                  <a:srgbClr val="B86A00"/>
                </a:solidFill>
                <a:latin typeface="Calibri"/>
              </a:rPr>
              <a:t>Ghidra p-code, def-use, slicing,</a:t>
            </a:r>
          </a:p>
          <a:p>
            <a:pPr algn="ctr"/>
            <a:r>
              <a:rPr sz="1050" b="0">
                <a:solidFill>
                  <a:srgbClr val="B86A00"/>
                </a:solidFill>
                <a:latin typeface="Calibri"/>
              </a:rPr>
              <a:t>dominance, targeted angr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960120"/>
            <a:ext cx="365760" cy="45720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57800" y="1600200"/>
            <a:ext cx="365760" cy="68580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2011680"/>
            <a:ext cx="365760" cy="27432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0" y="68580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Stage 3 — Dynamic analysis (fuzzing)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051560"/>
            <a:ext cx="2606040" cy="566928"/>
          </a:xfrm>
          <a:prstGeom prst="roundRect">
            <a:avLst/>
          </a:prstGeom>
          <a:solidFill>
            <a:srgbClr val="EFEFE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Baseline: random seeds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(planned)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91640"/>
            <a:ext cx="2606040" cy="566928"/>
          </a:xfrm>
          <a:prstGeom prst="roundRect">
            <a:avLst/>
          </a:prstGeom>
          <a:solidFill>
            <a:srgbClr val="E7F5EC"/>
          </a:solidFill>
          <a:ln w="15875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2E7D4F"/>
                </a:solidFill>
                <a:latin typeface="Calibri"/>
              </a:rPr>
              <a:t>LLM-generated seeds (blind)</a:t>
            </a:r>
          </a:p>
          <a:p>
            <a:pPr algn="ctr"/>
            <a:r>
              <a:rPr sz="1050" b="0">
                <a:solidFill>
                  <a:srgbClr val="2E7D4F"/>
                </a:solidFill>
                <a:latin typeface="Calibri"/>
              </a:rPr>
              <a:t>3/5 CVEs confirmed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331720"/>
            <a:ext cx="2606040" cy="566928"/>
          </a:xfrm>
          <a:prstGeom prst="roundRect">
            <a:avLst/>
          </a:prstGeom>
          <a:solidFill>
            <a:srgbClr val="EFEFE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Static-analysis-guided seeds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(planned)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1737360"/>
            <a:ext cx="411480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06324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Forwarding to codebase-level now follows the actual verdict criteria: any "vulnerable" or "indeterminate" verdict forwards automatically; a genuine function-level miss (CVE-2021-42386) was force-included this week after a queue-construction bug was found and fixed. Codebase-level retained cases are exactly the priority target for dynamic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IRSS Extended Mentorship —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Codebase-level Analysis: v1 vs.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349240" cy="4114800"/>
          </a:xfrm>
          <a:prstGeom prst="roundRect">
            <a:avLst/>
          </a:prstGeom>
          <a:solidFill>
            <a:srgbClr val="E8F0FB"/>
          </a:solidFill>
          <a:ln w="15875">
            <a:solidFill>
              <a:srgbClr val="2E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960120"/>
            <a:ext cx="5349240" cy="4114800"/>
          </a:xfrm>
          <a:prstGeom prst="roundRect">
            <a:avLst/>
          </a:prstGeom>
          <a:solidFill>
            <a:srgbClr val="FCF0DC"/>
          </a:solidFill>
          <a:ln w="15875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v1 — confirm-and-filter-vulnerabilities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Package: decompiled pseudo-C + Ghidra's direct-calls-only call graph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Tools available to the agent: read function, list callers/callees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Six-case pilot result: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2 of 4 real vulnerabilities confirmed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1 genuine false positive correctly suppressed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   (full rejection proof)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3 cases retained — needed value-range tracking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   across a loop and/or indirect-call resolution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No suppression of a true positive at any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6A00"/>
                </a:solidFill>
                <a:latin typeface="Calibri"/>
              </a:rPr>
              <a:t>v2 — + agent-directed static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46304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Added this week (per supervisor guidance — no new algorithms,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agent orchestrates existing capabilities):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Fuller Ghidra output: p-code, CFG, references, call sites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Def-use, slicing, dominance tools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Targeted angr queries (symbolic execution,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   value-constraint reasoning, indirect-call resolution)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•  Ingestion bug fixed: the CVE-2021-42386 Tier A miss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     now actually reaches Tier B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First run: 0/3 confirmed — but audit found the new tools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(slicing, dominance, angr) were never actually invoked.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Follow-up run requested with explicit tool-usage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57800"/>
            <a:ext cx="11247120" cy="100584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>
                <a:solidFill>
                  <a:srgbClr val="222222"/>
                </a:solidFill>
                <a:latin typeface="Calibri"/>
              </a:rPr>
              <a:t>Known limitation, either version: no SSA / dominators / def-use slicing / symbolic range analysis engine of our own. Targeted angr queries are bounded, agent-directed probes, not exhaustive path-sensitive analysis. If a case genuinely can't be resolved through Ghidra + angr + glue code, it is documented as a limitation rather than triggering a new analysis framework — a deliberate MVP scope decision, not a discovered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IRSS Extended Mentorship — Week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Dynamic Analysis: Fuzzing Experiments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5F9E"/>
                </a:solidFill>
                <a:latin typeface="Calibri"/>
              </a:rPr>
              <a:t>How seeds are generated now (blind, LLM-guided — LLMIF-derived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Phase 1 — extraction: an isolated subagent reads only the relevant specification/documentation and source code (RFC text for the one RFC-defined case; real compression tools for binary formats; source code for CLI/interpreter cases). It extracts field structure and boundary values with zero mention of the vulnerability, CVE, or bug class.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Phase 2 — generation: seeds are built mechanically from that extraction, no further vulnerability-aware reasoning — so a resulting crash is genuine evidence, not a confirmation of something already known.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5F9E"/>
                </a:solidFill>
                <a:latin typeface="Calibri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18288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/ 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harnesses built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&amp;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474720"/>
            <a:ext cx="1737360" cy="868680"/>
          </a:xfrm>
          <a:prstGeom prst="roundRect">
            <a:avLst/>
          </a:prstGeom>
          <a:solidFill>
            <a:srgbClr val="E7F5EC"/>
          </a:solidFill>
          <a:ln w="15875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2E7D4F"/>
                </a:solidFill>
                <a:latin typeface="Calibri"/>
              </a:rPr>
              <a:t>CVE-2026-29004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(udhcpc6)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474720"/>
            <a:ext cx="1737360" cy="868680"/>
          </a:xfrm>
          <a:prstGeom prst="roundRect">
            <a:avLst/>
          </a:prstGeom>
          <a:solidFill>
            <a:srgbClr val="E7F5EC"/>
          </a:solidFill>
          <a:ln w="15875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2E7D4F"/>
                </a:solidFill>
                <a:latin typeface="Calibri"/>
              </a:rPr>
              <a:t>CVE-2021-42373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(man)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474720"/>
            <a:ext cx="1737360" cy="868680"/>
          </a:xfrm>
          <a:prstGeom prst="roundRect">
            <a:avLst/>
          </a:prstGeom>
          <a:solidFill>
            <a:srgbClr val="E7F5EC"/>
          </a:solidFill>
          <a:ln w="15875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2E7D4F"/>
                </a:solidFill>
                <a:latin typeface="Calibri"/>
              </a:rPr>
              <a:t>CVE-2021-42374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(unlzma)</a:t>
            </a:r>
          </a:p>
          <a:p>
            <a:pPr algn="ctr"/>
            <a:r>
              <a:rPr sz="950" b="0">
                <a:solidFill>
                  <a:srgbClr val="2E7D4F"/>
                </a:solidFill>
                <a:latin typeface="Calibri"/>
              </a:rPr>
              <a:t>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474720"/>
            <a:ext cx="1737360" cy="868680"/>
          </a:xfrm>
          <a:prstGeom prst="roundRect">
            <a:avLst/>
          </a:prstGeom>
          <a:solidFill>
            <a:srgbClr val="EFEFE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CVE-2017-15873</a:t>
            </a:r>
          </a:p>
          <a:p>
            <a:pPr algn="ctr"/>
            <a:r>
              <a:rPr sz="950" b="0">
                <a:solidFill>
                  <a:srgbClr val="555555"/>
                </a:solidFill>
                <a:latin typeface="Calibri"/>
              </a:rPr>
              <a:t>(bunzip2)</a:t>
            </a:r>
          </a:p>
          <a:p>
            <a:pPr algn="ctr"/>
            <a:r>
              <a:rPr sz="950" b="0">
                <a:solidFill>
                  <a:srgbClr val="555555"/>
                </a:solidFill>
                <a:latin typeface="Calibri"/>
              </a:rPr>
              <a:t>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3474720"/>
            <a:ext cx="1737360" cy="868680"/>
          </a:xfrm>
          <a:prstGeom prst="roundRect">
            <a:avLst/>
          </a:prstGeom>
          <a:solidFill>
            <a:srgbClr val="EFEFEF"/>
          </a:solidFill>
          <a:ln w="1587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CVE-2021-42386</a:t>
            </a:r>
          </a:p>
          <a:p>
            <a:pPr algn="ctr"/>
            <a:r>
              <a:rPr sz="950" b="0">
                <a:solidFill>
                  <a:srgbClr val="555555"/>
                </a:solidFill>
                <a:latin typeface="Calibri"/>
              </a:rPr>
              <a:t>(awk)</a:t>
            </a:r>
          </a:p>
          <a:p>
            <a:pPr algn="ctr"/>
            <a:r>
              <a:rPr sz="950" b="0">
                <a:solidFill>
                  <a:srgbClr val="555555"/>
                </a:solidFill>
                <a:latin typeface="Calibri"/>
              </a:rP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Confirmed = crash reproduces on vulnerable, absent on patched, with the identical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86A00"/>
                </a:solidFill>
                <a:latin typeface="Calibri"/>
              </a:rPr>
              <a:t>Planned expansion (per supervisor's request)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1.  Random-seed baseline — same harnesses, same budget, purely random seeds — to measure whether guided seeding actually helps (time to first crash, coverage, confirmed-vulnerability count, success rate).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2.  Static-analysis-guided seed generation — once codebase-level analysis identifies concrete candidate lines and value constraints, feed those directly into seed generation instead of only specification/documentation.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IRSS Extended Mentorship — 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Full Pipeline Status — All 5 CVEs, 3 Stages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514600"/>
                <a:gridCol w="3246120"/>
                <a:gridCol w="32461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CVE (bug class)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Tier A</a:t>
                      </a:r>
                    </a:p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(function-level)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Tier B</a:t>
                      </a:r>
                    </a:p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(codebase-level)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Dynamic analysis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CVE-2026-29004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(heap-buffer-overflow,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udhcpc6)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TP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Confirmed — blind-seeded AFL campaign,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cross-checked absent on 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CVE-2017-15873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(integer-overflow,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bunzip2)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TP confirmed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Retained — static-v2 found relevant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unchecked arithmetic, root reachability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not proven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Not yet confirmed — real search effort,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harness verified working, no crash found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CVE-2021-42373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(NULL-deref, man)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TP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Confirmed (vulnerable); patched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correctly suppressed as TN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Confirmed — blind-seeded AFL campaign,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cross-checked absent on 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CVE-2021-42374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(OOB-read, unlzma)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Abstained — buffer size set in 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callee outside isolated function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Retained — static-v2 found both sinks,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reachability/extent proof incomplete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Confirmed — full blind-methodology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campaign, cross-checked absent on patched</a:t>
                      </a:r>
                    </a:p>
                  </a:txBody>
                  <a:tcPr anchor="ctr">
                    <a:solidFill>
                      <a:srgbClr val="E8F0F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CVE-2021-42386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1B2A4A"/>
                          </a:solidFill>
                        </a:rPr>
                        <a:t>(use-after-free, awk)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Missed entirely — free/stale-ref/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reuse spans multiple functions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Force-included into static-v2;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provider content-safety failure,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retained unresolved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Not yet confirmed — harness verified,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</a:rPr>
                        <a:t>unrelated crash classes ruled 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IRSS Extended Mentorship —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